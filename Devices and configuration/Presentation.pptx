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94" r:id="rId2"/>
    <p:sldId id="312" r:id="rId3"/>
    <p:sldId id="334" r:id="rId4"/>
    <p:sldId id="336" r:id="rId5"/>
    <p:sldId id="337" r:id="rId6"/>
    <p:sldId id="338" r:id="rId7"/>
    <p:sldId id="339" r:id="rId8"/>
    <p:sldId id="340" r:id="rId9"/>
    <p:sldId id="341" r:id="rId10"/>
    <p:sldId id="347" r:id="rId11"/>
    <p:sldId id="348" r:id="rId12"/>
    <p:sldId id="343" r:id="rId13"/>
    <p:sldId id="349" r:id="rId14"/>
    <p:sldId id="342" r:id="rId15"/>
    <p:sldId id="344" r:id="rId16"/>
    <p:sldId id="345" r:id="rId17"/>
    <p:sldId id="346" r:id="rId18"/>
    <p:sldId id="335" r:id="rId19"/>
  </p:sldIdLst>
  <p:sldSz cx="9144000" cy="6858000" type="screen4x3"/>
  <p:notesSz cx="6858000" cy="9144000"/>
  <p:defaultTextStyle>
    <a:defPPr>
      <a:defRPr lang="en-GB"/>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7F45"/>
    <a:srgbClr val="3A9652"/>
    <a:srgbClr val="48D95F"/>
    <a:srgbClr val="009896"/>
    <a:srgbClr val="1C60AB"/>
    <a:srgbClr val="B92432"/>
    <a:srgbClr val="EF9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93" autoAdjust="0"/>
  </p:normalViewPr>
  <p:slideViewPr>
    <p:cSldViewPr>
      <p:cViewPr varScale="1">
        <p:scale>
          <a:sx n="99" d="100"/>
          <a:sy n="99" d="100"/>
        </p:scale>
        <p:origin x="998" y="58"/>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83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GB"/>
          </a:p>
        </p:txBody>
      </p:sp>
      <p:sp>
        <p:nvSpPr>
          <p:cNvPr id="22835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GB"/>
          </a:p>
        </p:txBody>
      </p:sp>
      <p:sp>
        <p:nvSpPr>
          <p:cNvPr id="22835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GB"/>
          </a:p>
        </p:txBody>
      </p:sp>
      <p:sp>
        <p:nvSpPr>
          <p:cNvPr id="22835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C275336-4C4B-468A-BD5D-612CDC750D57}" type="slidenum">
              <a:rPr lang="en-GB" altLang="en-US"/>
              <a:pPr/>
              <a:t>‹#›</a:t>
            </a:fld>
            <a:endParaRPr lang="en-GB" altLang="en-US"/>
          </a:p>
        </p:txBody>
      </p:sp>
    </p:spTree>
    <p:extLst>
      <p:ext uri="{BB962C8B-B14F-4D97-AF65-F5344CB8AC3E}">
        <p14:creationId xmlns:p14="http://schemas.microsoft.com/office/powerpoint/2010/main" val="103837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GB"/>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GB"/>
          </a:p>
        </p:txBody>
      </p:sp>
      <p:sp>
        <p:nvSpPr>
          <p:cNvPr id="71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GB"/>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46A59669-7847-45FF-9753-DBE9BE1B770D}" type="slidenum">
              <a:rPr lang="en-GB" altLang="en-US"/>
              <a:pPr/>
              <a:t>‹#›</a:t>
            </a:fld>
            <a:endParaRPr lang="en-GB" altLang="en-US"/>
          </a:p>
        </p:txBody>
      </p:sp>
    </p:spTree>
    <p:extLst>
      <p:ext uri="{BB962C8B-B14F-4D97-AF65-F5344CB8AC3E}">
        <p14:creationId xmlns:p14="http://schemas.microsoft.com/office/powerpoint/2010/main" val="38708286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DB0E83B-CE53-4F81-A4BC-210B32BC2DD0}" type="slidenum">
              <a:rPr lang="en-GB" altLang="en-US" sz="1200"/>
              <a:pPr eaLnBrk="1" hangingPunct="1"/>
              <a:t>1</a:t>
            </a:fld>
            <a:endParaRPr lang="en-GB" altLang="en-US" sz="1200"/>
          </a:p>
        </p:txBody>
      </p:sp>
      <p:sp>
        <p:nvSpPr>
          <p:cNvPr id="8195" name="Rectangle 2"/>
          <p:cNvSpPr>
            <a:spLocks noGrp="1" noRot="1" noChangeAspect="1" noChangeArrowheads="1" noTextEdit="1"/>
          </p:cNvSpPr>
          <p:nvPr>
            <p:ph type="sldImg"/>
          </p:nvPr>
        </p:nvSpPr>
        <p:spPr>
          <a:ln/>
        </p:spPr>
      </p:sp>
      <p:sp>
        <p:nvSpPr>
          <p:cNvPr id="8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278248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73FB2F0-67AB-4090-B60C-6A400E3E7DFA}" type="slidenum">
              <a:rPr lang="en-GB" altLang="en-US" sz="1200"/>
              <a:pPr eaLnBrk="1" hangingPunct="1"/>
              <a:t>2</a:t>
            </a:fld>
            <a:endParaRPr lang="en-GB" altLang="en-US" sz="1200"/>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581910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39FE8B1-470D-4B40-AF5B-F11C8C9F4E1D}" type="slidenum">
              <a:rPr lang="en-GB" altLang="en-US" sz="1200"/>
              <a:pPr eaLnBrk="1" hangingPunct="1"/>
              <a:t>18</a:t>
            </a:fld>
            <a:endParaRPr lang="en-GB" altLang="en-US" sz="1200"/>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8357670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1" descr="Aardb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6813"/>
            <a:ext cx="611188"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3"/>
          <p:cNvSpPr txBox="1">
            <a:spLocks noChangeArrowheads="1"/>
          </p:cNvSpPr>
          <p:nvPr/>
        </p:nvSpPr>
        <p:spPr bwMode="auto">
          <a:xfrm>
            <a:off x="1258888" y="6550025"/>
            <a:ext cx="6889750" cy="274638"/>
          </a:xfrm>
          <a:prstGeom prst="rect">
            <a:avLst/>
          </a:prstGeom>
          <a:noFill/>
          <a:ln w="9525">
            <a:noFill/>
            <a:miter lim="800000"/>
            <a:headEnd/>
            <a:tailEnd/>
          </a:ln>
          <a:effectLst/>
        </p:spPr>
        <p:txBody>
          <a:bodyPr>
            <a:spAutoFit/>
          </a:bodyPr>
          <a:lstStyle/>
          <a:p>
            <a:pPr algn="ctr">
              <a:spcBef>
                <a:spcPct val="50000"/>
              </a:spcBef>
              <a:defRPr/>
            </a:pPr>
            <a:r>
              <a:rPr lang="nl-NL" sz="1200" b="1">
                <a:latin typeface="Arial" charset="0"/>
              </a:rPr>
              <a:t>        UNIVERSITY OF MINES AND TECHNOLOGY, TARKWA		               UMaT</a:t>
            </a:r>
          </a:p>
        </p:txBody>
      </p:sp>
      <p:pic>
        <p:nvPicPr>
          <p:cNvPr id="6" name="Picture 15" descr="logo"/>
          <p:cNvPicPr>
            <a:picLocks noChangeAspect="1" noChangeArrowheads="1"/>
          </p:cNvPicPr>
          <p:nvPr/>
        </p:nvPicPr>
        <p:blipFill>
          <a:blip r:embed="rId3">
            <a:extLst>
              <a:ext uri="{28A0092B-C50C-407E-A947-70E740481C1C}">
                <a14:useLocalDpi xmlns:a14="http://schemas.microsoft.com/office/drawing/2010/main" val="0"/>
              </a:ext>
            </a:extLst>
          </a:blip>
          <a:srcRect b="23170"/>
          <a:stretch>
            <a:fillRect/>
          </a:stretch>
        </p:blipFill>
        <p:spPr bwMode="auto">
          <a:xfrm>
            <a:off x="0" y="-1588"/>
            <a:ext cx="9144000" cy="90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6" name="Rectangle 2"/>
          <p:cNvSpPr>
            <a:spLocks noGrp="1" noChangeArrowheads="1"/>
          </p:cNvSpPr>
          <p:nvPr>
            <p:ph type="ctrTitle"/>
          </p:nvPr>
        </p:nvSpPr>
        <p:spPr>
          <a:xfrm>
            <a:off x="1238250" y="1552575"/>
            <a:ext cx="6680200" cy="1470025"/>
          </a:xfrm>
        </p:spPr>
        <p:txBody>
          <a:bodyPr/>
          <a:lstStyle>
            <a:lvl1pPr algn="ctr">
              <a:defRPr b="0"/>
            </a:lvl1pPr>
          </a:lstStyle>
          <a:p>
            <a:r>
              <a:rPr lang="en-US" smtClean="0"/>
              <a:t>Click to edit Master title style</a:t>
            </a:r>
            <a:endParaRPr lang="en-GB"/>
          </a:p>
        </p:txBody>
      </p:sp>
      <p:sp>
        <p:nvSpPr>
          <p:cNvPr id="11267" name="Rectangle 3"/>
          <p:cNvSpPr>
            <a:spLocks noGrp="1" noChangeArrowheads="1"/>
          </p:cNvSpPr>
          <p:nvPr>
            <p:ph type="subTitle" idx="1"/>
          </p:nvPr>
        </p:nvSpPr>
        <p:spPr>
          <a:xfrm>
            <a:off x="1200150" y="3408363"/>
            <a:ext cx="6718300" cy="1752600"/>
          </a:xfrm>
        </p:spPr>
        <p:txBody>
          <a:bodyPr/>
          <a:lstStyle>
            <a:lvl1pPr marL="0" indent="0" algn="ctr">
              <a:buFont typeface="Wingdings" pitchFamily="2" charset="2"/>
              <a:buNone/>
              <a:defRPr sz="1400"/>
            </a:lvl1pPr>
          </a:lstStyle>
          <a:p>
            <a:r>
              <a:rPr lang="en-US" smtClean="0"/>
              <a:t>Click to edit Master subtitle style</a:t>
            </a:r>
            <a:endParaRPr lang="en-GB"/>
          </a:p>
        </p:txBody>
      </p:sp>
    </p:spTree>
    <p:extLst>
      <p:ext uri="{BB962C8B-B14F-4D97-AF65-F5344CB8AC3E}">
        <p14:creationId xmlns:p14="http://schemas.microsoft.com/office/powerpoint/2010/main" val="392646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UNIVERSITY OF MINES AND TECHNOLOGY, TARKWA			          UMaT</a:t>
            </a:r>
          </a:p>
        </p:txBody>
      </p:sp>
      <p:sp>
        <p:nvSpPr>
          <p:cNvPr id="5" name="Rectangle 6"/>
          <p:cNvSpPr>
            <a:spLocks noGrp="1" noChangeArrowheads="1"/>
          </p:cNvSpPr>
          <p:nvPr>
            <p:ph type="sldNum" sz="quarter" idx="11"/>
          </p:nvPr>
        </p:nvSpPr>
        <p:spPr>
          <a:ln/>
        </p:spPr>
        <p:txBody>
          <a:bodyPr/>
          <a:lstStyle>
            <a:lvl1pPr>
              <a:defRPr/>
            </a:lvl1pPr>
          </a:lstStyle>
          <a:p>
            <a:fld id="{ACA603CE-52A8-4992-B802-B3CDFD3F8198}" type="slidenum">
              <a:rPr lang="en-GB" altLang="en-US"/>
              <a:pPr/>
              <a:t>‹#›</a:t>
            </a:fld>
            <a:endParaRPr lang="en-GB" altLang="en-US"/>
          </a:p>
        </p:txBody>
      </p:sp>
    </p:spTree>
    <p:extLst>
      <p:ext uri="{BB962C8B-B14F-4D97-AF65-F5344CB8AC3E}">
        <p14:creationId xmlns:p14="http://schemas.microsoft.com/office/powerpoint/2010/main" val="3575085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GB"/>
              <a:t>UNIVERSITY OF MINES AND TECHNOLOGY, TARKWA			          UMaT</a:t>
            </a:r>
          </a:p>
        </p:txBody>
      </p:sp>
      <p:sp>
        <p:nvSpPr>
          <p:cNvPr id="5" name="Rectangle 6"/>
          <p:cNvSpPr>
            <a:spLocks noGrp="1" noChangeArrowheads="1"/>
          </p:cNvSpPr>
          <p:nvPr>
            <p:ph type="sldNum" sz="quarter" idx="11"/>
          </p:nvPr>
        </p:nvSpPr>
        <p:spPr>
          <a:ln/>
        </p:spPr>
        <p:txBody>
          <a:bodyPr/>
          <a:lstStyle>
            <a:lvl1pPr>
              <a:defRPr/>
            </a:lvl1pPr>
          </a:lstStyle>
          <a:p>
            <a:fld id="{8EF3F5C2-6F56-44F0-994D-19EF92338701}" type="slidenum">
              <a:rPr lang="en-GB" altLang="en-US"/>
              <a:pPr/>
              <a:t>‹#›</a:t>
            </a:fld>
            <a:endParaRPr lang="en-GB" altLang="en-US"/>
          </a:p>
        </p:txBody>
      </p:sp>
    </p:spTree>
    <p:extLst>
      <p:ext uri="{BB962C8B-B14F-4D97-AF65-F5344CB8AC3E}">
        <p14:creationId xmlns:p14="http://schemas.microsoft.com/office/powerpoint/2010/main" val="99970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74613" y="1125538"/>
            <a:ext cx="4152900" cy="4943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379913" y="1125538"/>
            <a:ext cx="4152900" cy="4943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5"/>
          <p:cNvSpPr>
            <a:spLocks noGrp="1" noChangeArrowheads="1"/>
          </p:cNvSpPr>
          <p:nvPr>
            <p:ph type="ftr" sz="quarter" idx="10"/>
          </p:nvPr>
        </p:nvSpPr>
        <p:spPr>
          <a:ln/>
        </p:spPr>
        <p:txBody>
          <a:bodyPr/>
          <a:lstStyle>
            <a:lvl1pPr>
              <a:defRPr/>
            </a:lvl1pPr>
          </a:lstStyle>
          <a:p>
            <a:pPr>
              <a:defRPr/>
            </a:pPr>
            <a:r>
              <a:rPr lang="en-GB"/>
              <a:t>UNIVERSITY OF MINES AND TECHNOLOGY, TARKWA			          UMaT</a:t>
            </a:r>
          </a:p>
        </p:txBody>
      </p:sp>
      <p:sp>
        <p:nvSpPr>
          <p:cNvPr id="6" name="Rectangle 6"/>
          <p:cNvSpPr>
            <a:spLocks noGrp="1" noChangeArrowheads="1"/>
          </p:cNvSpPr>
          <p:nvPr>
            <p:ph type="sldNum" sz="quarter" idx="11"/>
          </p:nvPr>
        </p:nvSpPr>
        <p:spPr>
          <a:ln/>
        </p:spPr>
        <p:txBody>
          <a:bodyPr/>
          <a:lstStyle>
            <a:lvl1pPr>
              <a:defRPr/>
            </a:lvl1pPr>
          </a:lstStyle>
          <a:p>
            <a:fld id="{16DFD7BF-7982-4BE4-838C-209791C597AD}" type="slidenum">
              <a:rPr lang="en-GB" altLang="en-US"/>
              <a:pPr/>
              <a:t>‹#›</a:t>
            </a:fld>
            <a:endParaRPr lang="en-GB" altLang="en-US"/>
          </a:p>
        </p:txBody>
      </p:sp>
    </p:spTree>
    <p:extLst>
      <p:ext uri="{BB962C8B-B14F-4D97-AF65-F5344CB8AC3E}">
        <p14:creationId xmlns:p14="http://schemas.microsoft.com/office/powerpoint/2010/main" val="669730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5"/>
          <p:cNvSpPr>
            <a:spLocks noGrp="1" noChangeArrowheads="1"/>
          </p:cNvSpPr>
          <p:nvPr>
            <p:ph type="ftr" sz="quarter" idx="10"/>
          </p:nvPr>
        </p:nvSpPr>
        <p:spPr>
          <a:ln/>
        </p:spPr>
        <p:txBody>
          <a:bodyPr/>
          <a:lstStyle>
            <a:lvl1pPr>
              <a:defRPr/>
            </a:lvl1pPr>
          </a:lstStyle>
          <a:p>
            <a:pPr>
              <a:defRPr/>
            </a:pPr>
            <a:r>
              <a:rPr lang="en-GB"/>
              <a:t>UNIVERSITY OF MINES AND TECHNOLOGY, TARKWA			          UMaT</a:t>
            </a:r>
          </a:p>
        </p:txBody>
      </p:sp>
      <p:sp>
        <p:nvSpPr>
          <p:cNvPr id="8" name="Rectangle 6"/>
          <p:cNvSpPr>
            <a:spLocks noGrp="1" noChangeArrowheads="1"/>
          </p:cNvSpPr>
          <p:nvPr>
            <p:ph type="sldNum" sz="quarter" idx="11"/>
          </p:nvPr>
        </p:nvSpPr>
        <p:spPr>
          <a:ln/>
        </p:spPr>
        <p:txBody>
          <a:bodyPr/>
          <a:lstStyle>
            <a:lvl1pPr>
              <a:defRPr/>
            </a:lvl1pPr>
          </a:lstStyle>
          <a:p>
            <a:fld id="{55DD085A-44C9-4E98-A3B8-A6CE7AC9DF44}" type="slidenum">
              <a:rPr lang="en-GB" altLang="en-US"/>
              <a:pPr/>
              <a:t>‹#›</a:t>
            </a:fld>
            <a:endParaRPr lang="en-GB" altLang="en-US"/>
          </a:p>
        </p:txBody>
      </p:sp>
    </p:spTree>
    <p:extLst>
      <p:ext uri="{BB962C8B-B14F-4D97-AF65-F5344CB8AC3E}">
        <p14:creationId xmlns:p14="http://schemas.microsoft.com/office/powerpoint/2010/main" val="4280346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5"/>
          <p:cNvSpPr>
            <a:spLocks noGrp="1" noChangeArrowheads="1"/>
          </p:cNvSpPr>
          <p:nvPr>
            <p:ph type="ftr" sz="quarter" idx="10"/>
          </p:nvPr>
        </p:nvSpPr>
        <p:spPr>
          <a:ln/>
        </p:spPr>
        <p:txBody>
          <a:bodyPr/>
          <a:lstStyle>
            <a:lvl1pPr>
              <a:defRPr/>
            </a:lvl1pPr>
          </a:lstStyle>
          <a:p>
            <a:pPr>
              <a:defRPr/>
            </a:pPr>
            <a:r>
              <a:rPr lang="en-GB"/>
              <a:t>UNIVERSITY OF MINES AND TECHNOLOGY, TARKWA			          UMaT</a:t>
            </a:r>
          </a:p>
        </p:txBody>
      </p:sp>
      <p:sp>
        <p:nvSpPr>
          <p:cNvPr id="4" name="Rectangle 6"/>
          <p:cNvSpPr>
            <a:spLocks noGrp="1" noChangeArrowheads="1"/>
          </p:cNvSpPr>
          <p:nvPr>
            <p:ph type="sldNum" sz="quarter" idx="11"/>
          </p:nvPr>
        </p:nvSpPr>
        <p:spPr>
          <a:ln/>
        </p:spPr>
        <p:txBody>
          <a:bodyPr/>
          <a:lstStyle>
            <a:lvl1pPr>
              <a:defRPr/>
            </a:lvl1pPr>
          </a:lstStyle>
          <a:p>
            <a:fld id="{AA8B534D-3028-4A91-B706-1BDF52FA84DB}" type="slidenum">
              <a:rPr lang="en-GB" altLang="en-US"/>
              <a:pPr/>
              <a:t>‹#›</a:t>
            </a:fld>
            <a:endParaRPr lang="en-GB" altLang="en-US"/>
          </a:p>
        </p:txBody>
      </p:sp>
    </p:spTree>
    <p:extLst>
      <p:ext uri="{BB962C8B-B14F-4D97-AF65-F5344CB8AC3E}">
        <p14:creationId xmlns:p14="http://schemas.microsoft.com/office/powerpoint/2010/main" val="3360306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GB"/>
              <a:t>UNIVERSITY OF MINES AND TECHNOLOGY, TARKWA			          UMaT</a:t>
            </a:r>
          </a:p>
        </p:txBody>
      </p:sp>
      <p:sp>
        <p:nvSpPr>
          <p:cNvPr id="3" name="Rectangle 6"/>
          <p:cNvSpPr>
            <a:spLocks noGrp="1" noChangeArrowheads="1"/>
          </p:cNvSpPr>
          <p:nvPr>
            <p:ph type="sldNum" sz="quarter" idx="11"/>
          </p:nvPr>
        </p:nvSpPr>
        <p:spPr>
          <a:ln/>
        </p:spPr>
        <p:txBody>
          <a:bodyPr/>
          <a:lstStyle>
            <a:lvl1pPr>
              <a:defRPr/>
            </a:lvl1pPr>
          </a:lstStyle>
          <a:p>
            <a:fld id="{B52AB56F-7A0F-461F-BDC0-85384E622D39}" type="slidenum">
              <a:rPr lang="en-GB" altLang="en-US"/>
              <a:pPr/>
              <a:t>‹#›</a:t>
            </a:fld>
            <a:endParaRPr lang="en-GB" altLang="en-US"/>
          </a:p>
        </p:txBody>
      </p:sp>
    </p:spTree>
    <p:extLst>
      <p:ext uri="{BB962C8B-B14F-4D97-AF65-F5344CB8AC3E}">
        <p14:creationId xmlns:p14="http://schemas.microsoft.com/office/powerpoint/2010/main" val="2756347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t>UNIVERSITY OF MINES AND TECHNOLOGY, TARKWA			          UMaT</a:t>
            </a:r>
          </a:p>
        </p:txBody>
      </p:sp>
      <p:sp>
        <p:nvSpPr>
          <p:cNvPr id="6" name="Rectangle 6"/>
          <p:cNvSpPr>
            <a:spLocks noGrp="1" noChangeArrowheads="1"/>
          </p:cNvSpPr>
          <p:nvPr>
            <p:ph type="sldNum" sz="quarter" idx="11"/>
          </p:nvPr>
        </p:nvSpPr>
        <p:spPr>
          <a:ln/>
        </p:spPr>
        <p:txBody>
          <a:bodyPr/>
          <a:lstStyle>
            <a:lvl1pPr>
              <a:defRPr/>
            </a:lvl1pPr>
          </a:lstStyle>
          <a:p>
            <a:fld id="{5AAB4280-5B88-428F-853E-6C8C692DA220}" type="slidenum">
              <a:rPr lang="en-GB" altLang="en-US"/>
              <a:pPr/>
              <a:t>‹#›</a:t>
            </a:fld>
            <a:endParaRPr lang="en-GB" altLang="en-US"/>
          </a:p>
        </p:txBody>
      </p:sp>
    </p:spTree>
    <p:extLst>
      <p:ext uri="{BB962C8B-B14F-4D97-AF65-F5344CB8AC3E}">
        <p14:creationId xmlns:p14="http://schemas.microsoft.com/office/powerpoint/2010/main" val="493618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t>UNIVERSITY OF MINES AND TECHNOLOGY, TARKWA			          UMaT</a:t>
            </a:r>
          </a:p>
        </p:txBody>
      </p:sp>
      <p:sp>
        <p:nvSpPr>
          <p:cNvPr id="6" name="Rectangle 6"/>
          <p:cNvSpPr>
            <a:spLocks noGrp="1" noChangeArrowheads="1"/>
          </p:cNvSpPr>
          <p:nvPr>
            <p:ph type="sldNum" sz="quarter" idx="11"/>
          </p:nvPr>
        </p:nvSpPr>
        <p:spPr>
          <a:ln/>
        </p:spPr>
        <p:txBody>
          <a:bodyPr/>
          <a:lstStyle>
            <a:lvl1pPr>
              <a:defRPr/>
            </a:lvl1pPr>
          </a:lstStyle>
          <a:p>
            <a:fld id="{E9B8182C-C873-40BB-917C-7D04D716BDFE}" type="slidenum">
              <a:rPr lang="en-GB" altLang="en-US"/>
              <a:pPr/>
              <a:t>‹#›</a:t>
            </a:fld>
            <a:endParaRPr lang="en-GB" altLang="en-US"/>
          </a:p>
        </p:txBody>
      </p:sp>
    </p:spTree>
    <p:extLst>
      <p:ext uri="{BB962C8B-B14F-4D97-AF65-F5344CB8AC3E}">
        <p14:creationId xmlns:p14="http://schemas.microsoft.com/office/powerpoint/2010/main" val="2734940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UNIVERSITY OF MINES AND TECHNOLOGY, TARKWA			          UMaT</a:t>
            </a:r>
          </a:p>
        </p:txBody>
      </p:sp>
      <p:sp>
        <p:nvSpPr>
          <p:cNvPr id="5" name="Rectangle 6"/>
          <p:cNvSpPr>
            <a:spLocks noGrp="1" noChangeArrowheads="1"/>
          </p:cNvSpPr>
          <p:nvPr>
            <p:ph type="sldNum" sz="quarter" idx="11"/>
          </p:nvPr>
        </p:nvSpPr>
        <p:spPr>
          <a:ln/>
        </p:spPr>
        <p:txBody>
          <a:bodyPr/>
          <a:lstStyle>
            <a:lvl1pPr>
              <a:defRPr/>
            </a:lvl1pPr>
          </a:lstStyle>
          <a:p>
            <a:fld id="{F49B513D-C1EF-48E4-B192-B6493BDC590B}" type="slidenum">
              <a:rPr lang="en-GB" altLang="en-US"/>
              <a:pPr/>
              <a:t>‹#›</a:t>
            </a:fld>
            <a:endParaRPr lang="en-GB" altLang="en-US"/>
          </a:p>
        </p:txBody>
      </p:sp>
    </p:spTree>
    <p:extLst>
      <p:ext uri="{BB962C8B-B14F-4D97-AF65-F5344CB8AC3E}">
        <p14:creationId xmlns:p14="http://schemas.microsoft.com/office/powerpoint/2010/main" val="2805112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18263" y="95250"/>
            <a:ext cx="2114550" cy="5973763"/>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74613" y="95250"/>
            <a:ext cx="6191250" cy="5973763"/>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5"/>
          <p:cNvSpPr>
            <a:spLocks noGrp="1" noChangeArrowheads="1"/>
          </p:cNvSpPr>
          <p:nvPr>
            <p:ph type="ftr" sz="quarter" idx="10"/>
          </p:nvPr>
        </p:nvSpPr>
        <p:spPr>
          <a:ln/>
        </p:spPr>
        <p:txBody>
          <a:bodyPr/>
          <a:lstStyle>
            <a:lvl1pPr>
              <a:defRPr/>
            </a:lvl1pPr>
          </a:lstStyle>
          <a:p>
            <a:pPr>
              <a:defRPr/>
            </a:pPr>
            <a:r>
              <a:rPr lang="en-GB"/>
              <a:t>UNIVERSITY OF MINES AND TECHNOLOGY, TARKWA			          UMaT</a:t>
            </a:r>
          </a:p>
        </p:txBody>
      </p:sp>
      <p:sp>
        <p:nvSpPr>
          <p:cNvPr id="5" name="Rectangle 6"/>
          <p:cNvSpPr>
            <a:spLocks noGrp="1" noChangeArrowheads="1"/>
          </p:cNvSpPr>
          <p:nvPr>
            <p:ph type="sldNum" sz="quarter" idx="11"/>
          </p:nvPr>
        </p:nvSpPr>
        <p:spPr>
          <a:ln/>
        </p:spPr>
        <p:txBody>
          <a:bodyPr/>
          <a:lstStyle>
            <a:lvl1pPr>
              <a:defRPr/>
            </a:lvl1pPr>
          </a:lstStyle>
          <a:p>
            <a:fld id="{3A0F5D67-6EB5-46BE-8F0C-7BD0DC4C4AC9}" type="slidenum">
              <a:rPr lang="en-GB" altLang="en-US"/>
              <a:pPr/>
              <a:t>‹#›</a:t>
            </a:fld>
            <a:endParaRPr lang="en-GB" altLang="en-US"/>
          </a:p>
        </p:txBody>
      </p:sp>
    </p:spTree>
    <p:extLst>
      <p:ext uri="{BB962C8B-B14F-4D97-AF65-F5344CB8AC3E}">
        <p14:creationId xmlns:p14="http://schemas.microsoft.com/office/powerpoint/2010/main" val="2698848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3" name="Rectangle 19"/>
          <p:cNvSpPr>
            <a:spLocks noChangeArrowheads="1"/>
          </p:cNvSpPr>
          <p:nvPr/>
        </p:nvSpPr>
        <p:spPr bwMode="auto">
          <a:xfrm>
            <a:off x="0" y="0"/>
            <a:ext cx="8893175" cy="1144588"/>
          </a:xfrm>
          <a:prstGeom prst="rect">
            <a:avLst/>
          </a:prstGeom>
          <a:gradFill rotWithShape="1">
            <a:gsLst>
              <a:gs pos="0">
                <a:srgbClr val="317F45"/>
              </a:gs>
              <a:gs pos="100000">
                <a:srgbClr val="FFFFFF"/>
              </a:gs>
            </a:gsLst>
            <a:path path="rect">
              <a:fillToRect r="100000" b="100000"/>
            </a:path>
          </a:gradFill>
          <a:ln w="9525">
            <a:noFill/>
            <a:miter lim="800000"/>
            <a:headEnd/>
            <a:tailEnd/>
          </a:ln>
          <a:effectLst/>
        </p:spPr>
        <p:txBody>
          <a:bodyPr wrap="none" anchor="ctr"/>
          <a:lstStyle/>
          <a:p>
            <a:pPr>
              <a:defRPr/>
            </a:pPr>
            <a:endParaRPr lang="en-GB"/>
          </a:p>
        </p:txBody>
      </p:sp>
      <p:sp>
        <p:nvSpPr>
          <p:cNvPr id="1026" name="Rectangle 2"/>
          <p:cNvSpPr>
            <a:spLocks noGrp="1" noChangeArrowheads="1"/>
          </p:cNvSpPr>
          <p:nvPr>
            <p:ph type="title"/>
          </p:nvPr>
        </p:nvSpPr>
        <p:spPr bwMode="auto">
          <a:xfrm>
            <a:off x="457200" y="95250"/>
            <a:ext cx="8002588" cy="8683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GB" smtClean="0"/>
          </a:p>
        </p:txBody>
      </p:sp>
      <p:sp>
        <p:nvSpPr>
          <p:cNvPr id="1028" name="Rectangle 3" descr="Newsprint"/>
          <p:cNvSpPr>
            <a:spLocks noGrp="1" noChangeArrowheads="1"/>
          </p:cNvSpPr>
          <p:nvPr>
            <p:ph type="body" idx="1"/>
          </p:nvPr>
        </p:nvSpPr>
        <p:spPr bwMode="auto">
          <a:xfrm>
            <a:off x="74613" y="1125538"/>
            <a:ext cx="8458200" cy="494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1029" name="Rectangle 5"/>
          <p:cNvSpPr>
            <a:spLocks noGrp="1" noChangeArrowheads="1"/>
          </p:cNvSpPr>
          <p:nvPr>
            <p:ph type="ftr" sz="quarter" idx="3"/>
          </p:nvPr>
        </p:nvSpPr>
        <p:spPr bwMode="auto">
          <a:xfrm>
            <a:off x="1192213" y="6561138"/>
            <a:ext cx="7704137" cy="2968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r>
              <a:rPr lang="en-GB"/>
              <a:t>UNIVERSITY OF MINES AND TECHNOLOGY, TARKWA			          UMaT</a:t>
            </a:r>
          </a:p>
        </p:txBody>
      </p:sp>
      <p:sp>
        <p:nvSpPr>
          <p:cNvPr id="1030" name="Rectangle 6"/>
          <p:cNvSpPr>
            <a:spLocks noGrp="1" noChangeArrowheads="1"/>
          </p:cNvSpPr>
          <p:nvPr>
            <p:ph type="sldNum" sz="quarter" idx="4"/>
          </p:nvPr>
        </p:nvSpPr>
        <p:spPr bwMode="auto">
          <a:xfrm>
            <a:off x="8566150" y="6559550"/>
            <a:ext cx="501650" cy="3127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anose="020B0604020202020204" pitchFamily="34" charset="0"/>
              </a:defRPr>
            </a:lvl1pPr>
          </a:lstStyle>
          <a:p>
            <a:fld id="{27A48B23-2967-4F66-B1F5-836E0CC11760}" type="slidenum">
              <a:rPr lang="en-GB" altLang="en-US"/>
              <a:pPr/>
              <a:t>‹#›</a:t>
            </a:fld>
            <a:endParaRPr lang="en-GB" altLang="en-US"/>
          </a:p>
        </p:txBody>
      </p:sp>
      <p:pic>
        <p:nvPicPr>
          <p:cNvPr id="1031" name="Picture 12" descr="Aardbol"/>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788" y="6269038"/>
            <a:ext cx="533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18" descr="logo"/>
          <p:cNvPicPr>
            <a:picLocks noChangeAspect="1" noChangeArrowheads="1"/>
          </p:cNvPicPr>
          <p:nvPr/>
        </p:nvPicPr>
        <p:blipFill>
          <a:blip r:embed="rId14">
            <a:extLst>
              <a:ext uri="{28A0092B-C50C-407E-A947-70E740481C1C}">
                <a14:useLocalDpi xmlns:a14="http://schemas.microsoft.com/office/drawing/2010/main" val="0"/>
              </a:ext>
            </a:extLst>
          </a:blip>
          <a:srcRect l="23170"/>
          <a:stretch>
            <a:fillRect/>
          </a:stretch>
        </p:blipFill>
        <p:spPr bwMode="auto">
          <a:xfrm>
            <a:off x="8532813" y="-6350"/>
            <a:ext cx="6477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 name="Line 20"/>
          <p:cNvSpPr>
            <a:spLocks noChangeShapeType="1"/>
          </p:cNvSpPr>
          <p:nvPr/>
        </p:nvSpPr>
        <p:spPr bwMode="auto">
          <a:xfrm>
            <a:off x="0" y="981075"/>
            <a:ext cx="8532813" cy="0"/>
          </a:xfrm>
          <a:prstGeom prst="line">
            <a:avLst/>
          </a:prstGeom>
          <a:noFill/>
          <a:ln w="76200" cmpd="tri">
            <a:solidFill>
              <a:srgbClr val="317F45"/>
            </a:solidFill>
            <a:round/>
            <a:headEnd/>
            <a:tailEnd/>
          </a:ln>
          <a:effectLst/>
        </p:spPr>
        <p:txBody>
          <a:bodyPr/>
          <a:lstStyle/>
          <a:p>
            <a:pPr>
              <a:defRPr/>
            </a:pPr>
            <a:endParaRPr lang="en-GB"/>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iming>
    <p:tnLst>
      <p:par>
        <p:cTn id="1" dur="indefinite" restart="never" nodeType="tmRoot"/>
      </p:par>
    </p:tnLst>
  </p:timing>
  <p:hf sldNum="0" hdr="0" dt="0"/>
  <p:txStyles>
    <p:titleStyle>
      <a:lvl1pPr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mj-lt"/>
          <a:ea typeface="+mj-ea"/>
          <a:cs typeface="+mj-cs"/>
        </a:defRPr>
      </a:lvl1pPr>
      <a:lvl2pPr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2pPr>
      <a:lvl3pPr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3pPr>
      <a:lvl4pPr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4pPr>
      <a:lvl5pPr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5pPr>
      <a:lvl6pPr marL="457200"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6pPr>
      <a:lvl7pPr marL="914400"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7pPr>
      <a:lvl8pPr marL="1371600"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8pPr>
      <a:lvl9pPr marL="1828800"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9pPr>
    </p:titleStyle>
    <p:bodyStyle>
      <a:lvl1pPr marL="342900" indent="-342900" algn="l" rtl="0" eaLnBrk="1" fontAlgn="base" hangingPunct="1">
        <a:spcBef>
          <a:spcPct val="20000"/>
        </a:spcBef>
        <a:spcAft>
          <a:spcPct val="0"/>
        </a:spcAft>
        <a:buClr>
          <a:srgbClr val="009896"/>
        </a:buClr>
        <a:buFont typeface="Wingdings" panose="05000000000000000000" pitchFamily="2" charset="2"/>
        <a:buChar char="§"/>
        <a:defRPr sz="2400">
          <a:solidFill>
            <a:schemeClr val="tx1"/>
          </a:solidFill>
          <a:latin typeface="+mn-lt"/>
          <a:ea typeface="+mn-ea"/>
          <a:cs typeface="+mn-cs"/>
        </a:defRPr>
      </a:lvl1pPr>
      <a:lvl2pPr marL="630238" indent="-285750" algn="l" rtl="0" eaLnBrk="1" fontAlgn="base" hangingPunct="1">
        <a:spcBef>
          <a:spcPct val="20000"/>
        </a:spcBef>
        <a:spcAft>
          <a:spcPct val="0"/>
        </a:spcAft>
        <a:buClr>
          <a:srgbClr val="009896"/>
        </a:buClr>
        <a:buFont typeface="Wingdings" panose="05000000000000000000" pitchFamily="2" charset="2"/>
        <a:buChar char="§"/>
        <a:defRPr sz="2400">
          <a:solidFill>
            <a:schemeClr val="tx1"/>
          </a:solidFill>
          <a:latin typeface="+mn-lt"/>
        </a:defRPr>
      </a:lvl2pPr>
      <a:lvl3pPr marL="860425" indent="-228600" algn="l" rtl="0" eaLnBrk="1" fontAlgn="base" hangingPunct="1">
        <a:spcBef>
          <a:spcPct val="20000"/>
        </a:spcBef>
        <a:spcAft>
          <a:spcPct val="0"/>
        </a:spcAft>
        <a:buClr>
          <a:srgbClr val="009896"/>
        </a:buClr>
        <a:buFont typeface="Wingdings" panose="05000000000000000000" pitchFamily="2" charset="2"/>
        <a:buChar char="§"/>
        <a:defRPr sz="2400">
          <a:solidFill>
            <a:schemeClr val="tx1"/>
          </a:solidFill>
          <a:latin typeface="+mn-lt"/>
        </a:defRPr>
      </a:lvl3pPr>
      <a:lvl4pPr marL="1090613" indent="-228600" algn="l" rtl="0" eaLnBrk="1" fontAlgn="base" hangingPunct="1">
        <a:spcBef>
          <a:spcPct val="20000"/>
        </a:spcBef>
        <a:spcAft>
          <a:spcPct val="0"/>
        </a:spcAft>
        <a:buClr>
          <a:srgbClr val="009896"/>
        </a:buClr>
        <a:buFont typeface="Wingdings" panose="05000000000000000000" pitchFamily="2" charset="2"/>
        <a:buChar char="§"/>
        <a:defRPr sz="2400">
          <a:solidFill>
            <a:schemeClr val="tx1"/>
          </a:solidFill>
          <a:latin typeface="+mn-lt"/>
        </a:defRPr>
      </a:lvl4pPr>
      <a:lvl5pPr marL="1322388" indent="-228600" algn="l" rtl="0" eaLnBrk="1" fontAlgn="base" hangingPunct="1">
        <a:spcBef>
          <a:spcPct val="20000"/>
        </a:spcBef>
        <a:spcAft>
          <a:spcPct val="0"/>
        </a:spcAft>
        <a:buClr>
          <a:srgbClr val="009896"/>
        </a:buClr>
        <a:buFont typeface="Wingdings" panose="05000000000000000000" pitchFamily="2" charset="2"/>
        <a:buChar char="§"/>
        <a:defRPr sz="2400">
          <a:solidFill>
            <a:schemeClr val="tx1"/>
          </a:solidFill>
          <a:latin typeface="+mn-lt"/>
        </a:defRPr>
      </a:lvl5pPr>
      <a:lvl6pPr marL="1779588" indent="-228600" algn="l" rtl="0" eaLnBrk="1" fontAlgn="base" hangingPunct="1">
        <a:spcBef>
          <a:spcPct val="20000"/>
        </a:spcBef>
        <a:spcAft>
          <a:spcPct val="0"/>
        </a:spcAft>
        <a:buClr>
          <a:srgbClr val="009896"/>
        </a:buClr>
        <a:buFont typeface="Wingdings" pitchFamily="2" charset="2"/>
        <a:buChar char="§"/>
        <a:defRPr sz="2400">
          <a:solidFill>
            <a:schemeClr val="tx1"/>
          </a:solidFill>
          <a:latin typeface="+mn-lt"/>
        </a:defRPr>
      </a:lvl6pPr>
      <a:lvl7pPr marL="2236788" indent="-228600" algn="l" rtl="0" eaLnBrk="1" fontAlgn="base" hangingPunct="1">
        <a:spcBef>
          <a:spcPct val="20000"/>
        </a:spcBef>
        <a:spcAft>
          <a:spcPct val="0"/>
        </a:spcAft>
        <a:buClr>
          <a:srgbClr val="009896"/>
        </a:buClr>
        <a:buFont typeface="Wingdings" pitchFamily="2" charset="2"/>
        <a:buChar char="§"/>
        <a:defRPr sz="2400">
          <a:solidFill>
            <a:schemeClr val="tx1"/>
          </a:solidFill>
          <a:latin typeface="+mn-lt"/>
        </a:defRPr>
      </a:lvl7pPr>
      <a:lvl8pPr marL="2693988" indent="-228600" algn="l" rtl="0" eaLnBrk="1" fontAlgn="base" hangingPunct="1">
        <a:spcBef>
          <a:spcPct val="20000"/>
        </a:spcBef>
        <a:spcAft>
          <a:spcPct val="0"/>
        </a:spcAft>
        <a:buClr>
          <a:srgbClr val="009896"/>
        </a:buClr>
        <a:buFont typeface="Wingdings" pitchFamily="2" charset="2"/>
        <a:buChar char="§"/>
        <a:defRPr sz="2400">
          <a:solidFill>
            <a:schemeClr val="tx1"/>
          </a:solidFill>
          <a:latin typeface="+mn-lt"/>
        </a:defRPr>
      </a:lvl8pPr>
      <a:lvl9pPr marL="3151188" indent="-228600" algn="l" rtl="0" eaLnBrk="1" fontAlgn="base" hangingPunct="1">
        <a:spcBef>
          <a:spcPct val="20000"/>
        </a:spcBef>
        <a:spcAft>
          <a:spcPct val="0"/>
        </a:spcAft>
        <a:buClr>
          <a:srgbClr val="009896"/>
        </a:buClr>
        <a:buFont typeface="Wingdings" pitchFamily="2" charset="2"/>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ctrTitle"/>
          </p:nvPr>
        </p:nvSpPr>
        <p:spPr>
          <a:xfrm>
            <a:off x="323850" y="2709912"/>
            <a:ext cx="8569325" cy="1727200"/>
          </a:xfrm>
        </p:spPr>
        <p:txBody>
          <a:bodyPr/>
          <a:lstStyle/>
          <a:p>
            <a:r>
              <a:rPr lang="en-US" sz="2800" dirty="0">
                <a:solidFill>
                  <a:srgbClr val="FF0000"/>
                </a:solidFill>
                <a:effectLst/>
              </a:rPr>
              <a:t>SAFEZONE: NETWORKED SECURITY AND SAFETY SYSTEM WITH MOTION , SMOKE AND FIRE DETECTION</a:t>
            </a:r>
          </a:p>
        </p:txBody>
      </p:sp>
      <p:sp>
        <p:nvSpPr>
          <p:cNvPr id="5" name="Rectangle 3" descr="Newsprint"/>
          <p:cNvSpPr>
            <a:spLocks noGrp="1" noChangeArrowheads="1"/>
          </p:cNvSpPr>
          <p:nvPr>
            <p:ph type="subTitle" idx="1"/>
          </p:nvPr>
        </p:nvSpPr>
        <p:spPr>
          <a:xfrm>
            <a:off x="840432" y="4509120"/>
            <a:ext cx="7620000" cy="1752600"/>
          </a:xfrm>
        </p:spPr>
        <p:txBody>
          <a:bodyPr/>
          <a:lstStyle/>
          <a:p>
            <a:pPr>
              <a:defRPr/>
            </a:pPr>
            <a:r>
              <a:rPr lang="en-US" sz="4800" i="1" u="sng" dirty="0" smtClean="0"/>
              <a:t>ESSIEN JEFFERY</a:t>
            </a:r>
            <a:endParaRPr lang="en-US" sz="4800" i="1" u="sng" dirty="0" smtClean="0"/>
          </a:p>
          <a:p>
            <a:pPr>
              <a:defRPr/>
            </a:pPr>
            <a:r>
              <a:rPr lang="en-US" sz="1800" i="1" dirty="0" smtClean="0">
                <a:solidFill>
                  <a:srgbClr val="000000"/>
                </a:solidFill>
                <a:effectLst>
                  <a:outerShdw blurRad="38100" dist="38100" dir="2700000" algn="tl">
                    <a:srgbClr val="000000">
                      <a:alpha val="43137"/>
                    </a:srgbClr>
                  </a:outerShdw>
                </a:effectLst>
              </a:rPr>
              <a:t>COMPUTER SCIENCE AND ENGINEERING IV</a:t>
            </a:r>
            <a:endParaRPr lang="en-US" sz="1600" i="1" dirty="0" smtClean="0">
              <a:solidFill>
                <a:srgbClr val="000000"/>
              </a:solidFill>
              <a:effectLst>
                <a:outerShdw blurRad="38100" dist="38100" dir="2700000" algn="tl">
                  <a:srgbClr val="000000">
                    <a:alpha val="43137"/>
                  </a:srgbClr>
                </a:outerShdw>
              </a:effectLst>
            </a:endParaRPr>
          </a:p>
          <a:p>
            <a:pPr>
              <a:defRPr/>
            </a:pPr>
            <a:r>
              <a:rPr lang="en-US" sz="2400" i="1" dirty="0" smtClean="0"/>
              <a:t>16 AUGUST 2024</a:t>
            </a:r>
            <a:endParaRPr lang="en-US" dirty="0" smtClean="0"/>
          </a:p>
        </p:txBody>
      </p:sp>
      <p:sp>
        <p:nvSpPr>
          <p:cNvPr id="4" name="Rectangle 2"/>
          <p:cNvSpPr txBox="1">
            <a:spLocks noChangeArrowheads="1"/>
          </p:cNvSpPr>
          <p:nvPr/>
        </p:nvSpPr>
        <p:spPr bwMode="auto">
          <a:xfrm>
            <a:off x="251520" y="908720"/>
            <a:ext cx="8569325" cy="172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000" b="0">
                <a:solidFill>
                  <a:schemeClr val="tx2"/>
                </a:solidFill>
                <a:effectLst>
                  <a:outerShdw blurRad="38100" dist="38100" dir="2700000" algn="tl">
                    <a:srgbClr val="C0C0C0"/>
                  </a:outerShdw>
                </a:effectLst>
                <a:latin typeface="+mj-lt"/>
                <a:ea typeface="+mj-ea"/>
                <a:cs typeface="+mj-cs"/>
              </a:defRPr>
            </a:lvl1pPr>
            <a:lvl2pPr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2pPr>
            <a:lvl3pPr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3pPr>
            <a:lvl4pPr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4pPr>
            <a:lvl5pPr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5pPr>
            <a:lvl6pPr marL="457200"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6pPr>
            <a:lvl7pPr marL="914400"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7pPr>
            <a:lvl8pPr marL="1371600"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8pPr>
            <a:lvl9pPr marL="1828800" algn="l" rtl="0" eaLnBrk="1" fontAlgn="base" hangingPunct="1">
              <a:spcBef>
                <a:spcPct val="0"/>
              </a:spcBef>
              <a:spcAft>
                <a:spcPct val="0"/>
              </a:spcAft>
              <a:defRPr sz="4000" b="1">
                <a:solidFill>
                  <a:schemeClr val="tx2"/>
                </a:solidFill>
                <a:effectLst>
                  <a:outerShdw blurRad="38100" dist="38100" dir="2700000" algn="tl">
                    <a:srgbClr val="C0C0C0"/>
                  </a:outerShdw>
                </a:effectLst>
                <a:latin typeface="Trebuchet MS" pitchFamily="34" charset="0"/>
              </a:defRPr>
            </a:lvl9pPr>
          </a:lstStyle>
          <a:p>
            <a:pPr>
              <a:defRPr/>
            </a:pPr>
            <a:r>
              <a:rPr lang="en-GB" sz="3600" b="1" kern="0" dirty="0" smtClean="0">
                <a:solidFill>
                  <a:schemeClr val="tx1"/>
                </a:solidFill>
              </a:rPr>
              <a:t>BSc PROJECT </a:t>
            </a:r>
            <a:r>
              <a:rPr lang="en-GB" sz="3600" b="1" kern="0" dirty="0" smtClean="0">
                <a:solidFill>
                  <a:schemeClr val="tx1"/>
                </a:solidFill>
              </a:rPr>
              <a:t>DEFENSE</a:t>
            </a:r>
            <a:endParaRPr lang="en-GB" sz="3600" b="1" kern="0" dirty="0" smtClean="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a:latin typeface="Arial" panose="020B0604020202020204" pitchFamily="34" charset="0"/>
              </a:rPr>
              <a:t>UNIVERSITY OF MINES AND TECHNOLOGY, TARKWA			          UMaT</a:t>
            </a:r>
          </a:p>
        </p:txBody>
      </p:sp>
      <p:sp>
        <p:nvSpPr>
          <p:cNvPr id="152578" name="Rectangle 2"/>
          <p:cNvSpPr>
            <a:spLocks noGrp="1" noChangeArrowheads="1"/>
          </p:cNvSpPr>
          <p:nvPr>
            <p:ph type="title"/>
          </p:nvPr>
        </p:nvSpPr>
        <p:spPr/>
        <p:txBody>
          <a:bodyPr/>
          <a:lstStyle/>
          <a:p>
            <a:pPr>
              <a:defRPr/>
            </a:pPr>
            <a:r>
              <a:rPr lang="en-GB" smtClean="0">
                <a:solidFill>
                  <a:schemeClr val="tx1"/>
                </a:solidFill>
              </a:rPr>
              <a:t>Presentation Outline</a:t>
            </a:r>
          </a:p>
        </p:txBody>
      </p:sp>
      <p:sp>
        <p:nvSpPr>
          <p:cNvPr id="4100" name="Rectangle 3" descr="Newsprint"/>
          <p:cNvSpPr>
            <a:spLocks noGrp="1" noChangeArrowheads="1"/>
          </p:cNvSpPr>
          <p:nvPr>
            <p:ph type="body" idx="1"/>
          </p:nvPr>
        </p:nvSpPr>
        <p:spPr>
          <a:xfrm>
            <a:off x="468313" y="1125538"/>
            <a:ext cx="7989887" cy="5113337"/>
          </a:xfrm>
        </p:spPr>
        <p:txBody>
          <a:bodyPr/>
          <a:lstStyle/>
          <a:p>
            <a:pPr>
              <a:lnSpc>
                <a:spcPct val="200000"/>
              </a:lnSpc>
            </a:pPr>
            <a:r>
              <a:rPr lang="en-US" altLang="en-US" dirty="0" smtClean="0"/>
              <a:t>Statement of Problem</a:t>
            </a:r>
          </a:p>
          <a:p>
            <a:pPr>
              <a:lnSpc>
                <a:spcPct val="200000"/>
              </a:lnSpc>
            </a:pPr>
            <a:r>
              <a:rPr lang="en-US" altLang="en-US" dirty="0" smtClean="0"/>
              <a:t>Objective(s) of Project </a:t>
            </a:r>
          </a:p>
          <a:p>
            <a:pPr>
              <a:lnSpc>
                <a:spcPct val="200000"/>
              </a:lnSpc>
            </a:pPr>
            <a:r>
              <a:rPr lang="en-US" altLang="en-US" dirty="0" smtClean="0"/>
              <a:t>Relevant Information about Study Area [if any]</a:t>
            </a:r>
          </a:p>
          <a:p>
            <a:pPr>
              <a:lnSpc>
                <a:spcPct val="200000"/>
              </a:lnSpc>
            </a:pPr>
            <a:r>
              <a:rPr lang="en-US" altLang="en-US" dirty="0" smtClean="0"/>
              <a:t>Materials and Methods Used</a:t>
            </a:r>
          </a:p>
          <a:p>
            <a:pPr>
              <a:lnSpc>
                <a:spcPct val="200000"/>
              </a:lnSpc>
            </a:pPr>
            <a:r>
              <a:rPr lang="en-US" altLang="en-US" dirty="0" smtClean="0"/>
              <a:t>Results and Discussion</a:t>
            </a:r>
          </a:p>
          <a:p>
            <a:pPr>
              <a:lnSpc>
                <a:spcPct val="200000"/>
              </a:lnSpc>
            </a:pPr>
            <a:r>
              <a:rPr lang="en-US" altLang="en-US" dirty="0" smtClean="0"/>
              <a:t>Conclusion(s) and Recommendation(s)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a:latin typeface="Arial" panose="020B0604020202020204" pitchFamily="34" charset="0"/>
              </a:rPr>
              <a:t>UNIVERSITY OF MINES AND TECHNOLOGY, TARKWA			          UMaT</a:t>
            </a:r>
          </a:p>
        </p:txBody>
      </p:sp>
      <p:sp>
        <p:nvSpPr>
          <p:cNvPr id="227330" name="Rectangle 2"/>
          <p:cNvSpPr>
            <a:spLocks noGrp="1" noChangeArrowheads="1"/>
          </p:cNvSpPr>
          <p:nvPr>
            <p:ph type="title"/>
          </p:nvPr>
        </p:nvSpPr>
        <p:spPr/>
        <p:txBody>
          <a:bodyPr/>
          <a:lstStyle/>
          <a:p>
            <a:pPr>
              <a:defRPr/>
            </a:pPr>
            <a:r>
              <a:rPr lang="en-US" dirty="0" smtClean="0"/>
              <a:t>Statement of Problem</a:t>
            </a:r>
          </a:p>
        </p:txBody>
      </p:sp>
      <p:sp>
        <p:nvSpPr>
          <p:cNvPr id="5124" name="Rectangle 3" descr="Newsprint"/>
          <p:cNvSpPr>
            <a:spLocks noGrp="1" noChangeArrowheads="1"/>
          </p:cNvSpPr>
          <p:nvPr>
            <p:ph type="body" idx="1"/>
          </p:nvPr>
        </p:nvSpPr>
        <p:spPr/>
        <p:txBody>
          <a:bodyPr/>
          <a:lstStyle/>
          <a:p>
            <a:r>
              <a:rPr lang="en-US" b="1" dirty="0" smtClean="0"/>
              <a:t>Fragmented Systems</a:t>
            </a:r>
            <a:r>
              <a:rPr lang="en-US" dirty="0" smtClean="0"/>
              <a:t>: Current security and fire detection systems operate independently, lacking integration.</a:t>
            </a:r>
          </a:p>
          <a:p>
            <a:r>
              <a:rPr lang="en-US" b="1" dirty="0" smtClean="0"/>
              <a:t>Limited Protection</a:t>
            </a:r>
            <a:r>
              <a:rPr lang="en-US" dirty="0" smtClean="0"/>
              <a:t>: These systems provide incomplete coverage, missing comprehensive protection capabilities.</a:t>
            </a:r>
          </a:p>
          <a:p>
            <a:r>
              <a:rPr lang="en-US" b="1" dirty="0" smtClean="0"/>
              <a:t>Delayed Detection and Response</a:t>
            </a:r>
            <a:r>
              <a:rPr lang="en-US" dirty="0" smtClean="0"/>
              <a:t>: Independent functioning leads to delays in identifying and responding to threats.</a:t>
            </a:r>
          </a:p>
          <a:p>
            <a:r>
              <a:rPr lang="en-US" b="1" dirty="0" smtClean="0"/>
              <a:t>Lack of Real-Time Monitoring</a:t>
            </a:r>
            <a:r>
              <a:rPr lang="en-US" dirty="0" smtClean="0"/>
              <a:t>: Absence of real-time monitoring hinders immediate intervention during emergencies.</a:t>
            </a:r>
          </a:p>
          <a:p>
            <a:endParaRPr lang="en-US" sz="1800" dirty="0" smtClean="0"/>
          </a:p>
          <a:p>
            <a:pPr marL="0" indent="0">
              <a:buNone/>
            </a:pPr>
            <a:endParaRPr lang="en-US" sz="1800" b="1"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Statement of Problem</a:t>
            </a:r>
            <a:endParaRPr lang="en-GB" dirty="0"/>
          </a:p>
        </p:txBody>
      </p:sp>
      <p:sp>
        <p:nvSpPr>
          <p:cNvPr id="3" name="Content Placeholder 2"/>
          <p:cNvSpPr>
            <a:spLocks noGrp="1"/>
          </p:cNvSpPr>
          <p:nvPr>
            <p:ph idx="1"/>
          </p:nvPr>
        </p:nvSpPr>
        <p:spPr/>
        <p:txBody>
          <a:bodyPr/>
          <a:lstStyle/>
          <a:p>
            <a:r>
              <a:rPr lang="en-US" b="1" dirty="0"/>
              <a:t>Significant Risks</a:t>
            </a:r>
            <a:r>
              <a:rPr lang="en-US" dirty="0"/>
              <a:t>: Without real-time control, the potential for significant damage and risk increases.</a:t>
            </a:r>
          </a:p>
          <a:p>
            <a:r>
              <a:rPr lang="en-US" b="1" dirty="0"/>
              <a:t>Need for Integrated Solution</a:t>
            </a:r>
            <a:r>
              <a:rPr lang="en-US" dirty="0"/>
              <a:t>: There is a crucial need to leverage IoT technology for:</a:t>
            </a:r>
          </a:p>
          <a:p>
            <a:pPr lvl="1"/>
            <a:r>
              <a:rPr lang="en-US" dirty="0"/>
              <a:t>Seamless communication between devices.</a:t>
            </a:r>
          </a:p>
          <a:p>
            <a:pPr lvl="1"/>
            <a:r>
              <a:rPr lang="en-US" dirty="0"/>
              <a:t>Real-time monitoring of security and fire threats.</a:t>
            </a:r>
          </a:p>
          <a:p>
            <a:pPr lvl="1"/>
            <a:r>
              <a:rPr lang="en-US" dirty="0"/>
              <a:t>Swift and coordinated response to potential emergencies</a:t>
            </a:r>
            <a:endParaRPr lang="en-GB" sz="3200"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spTree>
    <p:extLst>
      <p:ext uri="{BB962C8B-B14F-4D97-AF65-F5344CB8AC3E}">
        <p14:creationId xmlns:p14="http://schemas.microsoft.com/office/powerpoint/2010/main" val="3506266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Objective(s) of Project</a:t>
            </a:r>
            <a:endParaRPr lang="en-GB" dirty="0"/>
          </a:p>
        </p:txBody>
      </p:sp>
      <p:sp>
        <p:nvSpPr>
          <p:cNvPr id="3" name="Content Placeholder 2"/>
          <p:cNvSpPr>
            <a:spLocks noGrp="1"/>
          </p:cNvSpPr>
          <p:nvPr>
            <p:ph idx="1"/>
          </p:nvPr>
        </p:nvSpPr>
        <p:spPr/>
        <p:txBody>
          <a:bodyPr/>
          <a:lstStyle/>
          <a:p>
            <a:pPr lvl="0"/>
            <a:r>
              <a:rPr lang="en-US" b="1" dirty="0"/>
              <a:t>Develop an Integrated IoT System</a:t>
            </a:r>
            <a:r>
              <a:rPr lang="en-US" dirty="0"/>
              <a:t>: Combine motion and fire detection into a unified security solution. </a:t>
            </a:r>
            <a:endParaRPr lang="en-US" dirty="0" smtClean="0"/>
          </a:p>
          <a:p>
            <a:pPr lvl="0"/>
            <a:r>
              <a:rPr lang="en-US" b="1" dirty="0"/>
              <a:t>Enable Real-Time Monitoring</a:t>
            </a:r>
            <a:r>
              <a:rPr lang="en-US" dirty="0"/>
              <a:t>: Implement centralized control for immediate threat </a:t>
            </a:r>
            <a:r>
              <a:rPr lang="en-US" dirty="0" smtClean="0"/>
              <a:t>response.</a:t>
            </a:r>
            <a:endParaRPr lang="en-US" dirty="0"/>
          </a:p>
          <a:p>
            <a:pPr lvl="0"/>
            <a:r>
              <a:rPr lang="en-US" b="1" dirty="0"/>
              <a:t>Ensure Seamless Communication</a:t>
            </a:r>
            <a:r>
              <a:rPr lang="en-US" dirty="0"/>
              <a:t>: Establish a reliable network for smooth sensor and actuator </a:t>
            </a:r>
            <a:r>
              <a:rPr lang="en-US" dirty="0" smtClean="0"/>
              <a:t>interaction.</a:t>
            </a:r>
            <a:endParaRPr lang="en-US" dirty="0"/>
          </a:p>
          <a:p>
            <a:pPr lvl="0"/>
            <a:r>
              <a:rPr lang="en-US" b="1" dirty="0"/>
              <a:t>Enhance Reliability</a:t>
            </a:r>
            <a:r>
              <a:rPr lang="en-US" dirty="0"/>
              <a:t>: Use continuous internet and cellular backups to maintain system </a:t>
            </a:r>
            <a:r>
              <a:rPr lang="en-US" dirty="0" smtClean="0"/>
              <a:t>responsiveness.</a:t>
            </a:r>
            <a:endParaRPr lang="en-US" dirty="0"/>
          </a:p>
          <a:p>
            <a:pPr lvl="0"/>
            <a:r>
              <a:rPr lang="en-US" b="1" dirty="0"/>
              <a:t>Provide a Scalable Solution</a:t>
            </a:r>
            <a:r>
              <a:rPr lang="en-US" dirty="0"/>
              <a:t>: Design a user-friendly system adaptable for residential and commercial use.</a:t>
            </a:r>
            <a:endParaRPr lang="en-GB"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spTree>
    <p:extLst>
      <p:ext uri="{BB962C8B-B14F-4D97-AF65-F5344CB8AC3E}">
        <p14:creationId xmlns:p14="http://schemas.microsoft.com/office/powerpoint/2010/main" val="193033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Study Area</a:t>
            </a:r>
            <a:endParaRPr lang="en-GB" dirty="0"/>
          </a:p>
        </p:txBody>
      </p:sp>
      <p:sp>
        <p:nvSpPr>
          <p:cNvPr id="3" name="Content Placeholder 2"/>
          <p:cNvSpPr>
            <a:spLocks noGrp="1"/>
          </p:cNvSpPr>
          <p:nvPr>
            <p:ph idx="1"/>
          </p:nvPr>
        </p:nvSpPr>
        <p:spPr/>
        <p:txBody>
          <a:bodyPr/>
          <a:lstStyle/>
          <a:p>
            <a:endParaRPr lang="en-GB"/>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spTree>
    <p:extLst>
      <p:ext uri="{BB962C8B-B14F-4D97-AF65-F5344CB8AC3E}">
        <p14:creationId xmlns:p14="http://schemas.microsoft.com/office/powerpoint/2010/main" val="3132663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Materials and Methods Used</a:t>
            </a:r>
            <a:endParaRPr lang="en-GB" dirty="0"/>
          </a:p>
        </p:txBody>
      </p:sp>
      <p:sp>
        <p:nvSpPr>
          <p:cNvPr id="3" name="Content Placeholder 2"/>
          <p:cNvSpPr>
            <a:spLocks noGrp="1"/>
          </p:cNvSpPr>
          <p:nvPr>
            <p:ph idx="1"/>
          </p:nvPr>
        </p:nvSpPr>
        <p:spPr/>
        <p:txBody>
          <a:bodyPr/>
          <a:lstStyle/>
          <a:p>
            <a:r>
              <a:rPr lang="en-GB" dirty="0" smtClean="0"/>
              <a:t>The material used were :</a:t>
            </a:r>
          </a:p>
          <a:p>
            <a:pPr lvl="0"/>
            <a:r>
              <a:rPr lang="en-US" b="1" dirty="0"/>
              <a:t>IoT </a:t>
            </a:r>
            <a:r>
              <a:rPr lang="en-US" b="1" dirty="0" smtClean="0"/>
              <a:t>Devices: </a:t>
            </a:r>
            <a:r>
              <a:rPr lang="en-US" dirty="0"/>
              <a:t>Motion detectors, smoke detectors, alarms, sirens, </a:t>
            </a:r>
            <a:r>
              <a:rPr lang="en-US" dirty="0" smtClean="0"/>
              <a:t>CCTV, </a:t>
            </a:r>
            <a:r>
              <a:rPr lang="en-US" dirty="0"/>
              <a:t>IoT windows, IoT doors, fire sprinklers</a:t>
            </a:r>
            <a:r>
              <a:rPr lang="en-US" dirty="0" smtClean="0"/>
              <a:t>.</a:t>
            </a:r>
          </a:p>
          <a:p>
            <a:r>
              <a:rPr lang="en-US" b="1" dirty="0"/>
              <a:t>Networking Equipment: </a:t>
            </a:r>
            <a:r>
              <a:rPr lang="en-US" dirty="0"/>
              <a:t>Routers, switches, DNS server, IOE server, ISP </a:t>
            </a:r>
            <a:r>
              <a:rPr lang="en-US" dirty="0" smtClean="0"/>
              <a:t>router ,modems ,Tower , Central Office Server ,Cloud.</a:t>
            </a:r>
          </a:p>
          <a:p>
            <a:pPr lvl="0"/>
            <a:r>
              <a:rPr lang="en-US" b="1" dirty="0"/>
              <a:t>Development Tools: </a:t>
            </a:r>
            <a:r>
              <a:rPr lang="en-US" dirty="0"/>
              <a:t>Computers with software development environments, web development tools, and network configuration tools</a:t>
            </a:r>
            <a:r>
              <a:rPr lang="en-US" dirty="0" smtClean="0"/>
              <a:t>.</a:t>
            </a:r>
          </a:p>
          <a:p>
            <a:r>
              <a:rPr lang="en-US" b="1" dirty="0"/>
              <a:t>Testing Environment:</a:t>
            </a:r>
            <a:r>
              <a:rPr lang="en-US" dirty="0"/>
              <a:t> A controlled environment to simulate various security and fire scenarios for testing system responses.</a:t>
            </a:r>
          </a:p>
          <a:p>
            <a:pPr lvl="0"/>
            <a:endParaRPr lang="en-US" dirty="0"/>
          </a:p>
          <a:p>
            <a:endParaRPr lang="en-US" dirty="0" smtClean="0"/>
          </a:p>
          <a:p>
            <a:endParaRPr lang="en-US" dirty="0"/>
          </a:p>
          <a:p>
            <a:pPr lvl="0"/>
            <a:endParaRPr lang="en-US" dirty="0"/>
          </a:p>
          <a:p>
            <a:endParaRPr lang="en-GB"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spTree>
    <p:extLst>
      <p:ext uri="{BB962C8B-B14F-4D97-AF65-F5344CB8AC3E}">
        <p14:creationId xmlns:p14="http://schemas.microsoft.com/office/powerpoint/2010/main" val="844164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Materials and Methods Used</a:t>
            </a:r>
            <a:endParaRPr lang="en-GB" dirty="0"/>
          </a:p>
        </p:txBody>
      </p:sp>
      <p:sp>
        <p:nvSpPr>
          <p:cNvPr id="3" name="Content Placeholder 2"/>
          <p:cNvSpPr>
            <a:spLocks noGrp="1"/>
          </p:cNvSpPr>
          <p:nvPr>
            <p:ph idx="1"/>
          </p:nvPr>
        </p:nvSpPr>
        <p:spPr/>
        <p:txBody>
          <a:bodyPr/>
          <a:lstStyle/>
          <a:p>
            <a:r>
              <a:rPr lang="en-GB" dirty="0" smtClean="0"/>
              <a:t>The software component used :</a:t>
            </a:r>
          </a:p>
          <a:p>
            <a:r>
              <a:rPr lang="en-GB" b="1" dirty="0" smtClean="0"/>
              <a:t>Python </a:t>
            </a:r>
            <a:r>
              <a:rPr lang="en-GB" dirty="0" smtClean="0"/>
              <a:t>- </a:t>
            </a:r>
            <a:r>
              <a:rPr lang="en-US" dirty="0"/>
              <a:t>for programming the IoT devices</a:t>
            </a:r>
            <a:r>
              <a:rPr lang="en-US" dirty="0" smtClean="0"/>
              <a:t>,</a:t>
            </a:r>
            <a:r>
              <a:rPr lang="en-US" b="1" dirty="0" smtClean="0"/>
              <a:t> </a:t>
            </a:r>
            <a:r>
              <a:rPr lang="en-US" dirty="0"/>
              <a:t>Automation and </a:t>
            </a:r>
            <a:r>
              <a:rPr lang="en-US" dirty="0" smtClean="0"/>
              <a:t>Control,</a:t>
            </a:r>
            <a:r>
              <a:rPr lang="en-US" b="1" dirty="0"/>
              <a:t> </a:t>
            </a:r>
            <a:r>
              <a:rPr lang="en-US" dirty="0"/>
              <a:t>Integration with IoT </a:t>
            </a:r>
            <a:r>
              <a:rPr lang="en-US" dirty="0" smtClean="0"/>
              <a:t>Platforms</a:t>
            </a:r>
            <a:endParaRPr lang="en-GB" dirty="0" smtClean="0"/>
          </a:p>
          <a:p>
            <a:r>
              <a:rPr lang="en-GB" b="1" dirty="0" smtClean="0"/>
              <a:t>JavaScript-</a:t>
            </a:r>
            <a:r>
              <a:rPr lang="en-GB" dirty="0" smtClean="0"/>
              <a:t> </a:t>
            </a:r>
            <a:r>
              <a:rPr lang="en-US" dirty="0"/>
              <a:t>for programming the IoT devices, enabling the processing of sensor data and triggering appropriate responses</a:t>
            </a:r>
            <a:endParaRPr lang="en-GB" dirty="0" smtClean="0"/>
          </a:p>
          <a:p>
            <a:r>
              <a:rPr lang="en-GB" b="1" dirty="0" smtClean="0"/>
              <a:t>HTML </a:t>
            </a:r>
            <a:r>
              <a:rPr lang="en-GB" dirty="0" smtClean="0"/>
              <a:t>–Website development(Ioe.org)</a:t>
            </a:r>
          </a:p>
          <a:p>
            <a:endParaRPr lang="en-GB"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spTree>
    <p:extLst>
      <p:ext uri="{BB962C8B-B14F-4D97-AF65-F5344CB8AC3E}">
        <p14:creationId xmlns:p14="http://schemas.microsoft.com/office/powerpoint/2010/main" val="1927045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602" y="116632"/>
            <a:ext cx="8002588" cy="868363"/>
          </a:xfrm>
        </p:spPr>
        <p:txBody>
          <a:bodyPr/>
          <a:lstStyle/>
          <a:p>
            <a:r>
              <a:rPr lang="en-GB" dirty="0" smtClean="0"/>
              <a:t>Materials and Methods Used</a:t>
            </a:r>
            <a:endParaRPr lang="en-GB"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sp>
        <p:nvSpPr>
          <p:cNvPr id="6" name="Content Placeholder 5"/>
          <p:cNvSpPr>
            <a:spLocks noGrp="1"/>
          </p:cNvSpPr>
          <p:nvPr>
            <p:ph idx="1"/>
          </p:nvPr>
        </p:nvSpPr>
        <p:spPr/>
        <p:txBody>
          <a:bodyPr/>
          <a:lstStyle/>
          <a:p>
            <a:r>
              <a:rPr lang="en-US" dirty="0" smtClean="0"/>
              <a:t>The Flowchart for motion system</a:t>
            </a:r>
          </a:p>
          <a:p>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44824"/>
            <a:ext cx="8475522" cy="3888432"/>
          </a:xfrm>
          <a:prstGeom prst="rect">
            <a:avLst/>
          </a:prstGeom>
        </p:spPr>
      </p:pic>
    </p:spTree>
    <p:extLst>
      <p:ext uri="{BB962C8B-B14F-4D97-AF65-F5344CB8AC3E}">
        <p14:creationId xmlns:p14="http://schemas.microsoft.com/office/powerpoint/2010/main" val="1732472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Materials and Methods Used</a:t>
            </a:r>
            <a:endParaRPr lang="en-US"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sp>
        <p:nvSpPr>
          <p:cNvPr id="6" name="Content Placeholder 5"/>
          <p:cNvSpPr>
            <a:spLocks noGrp="1"/>
          </p:cNvSpPr>
          <p:nvPr>
            <p:ph idx="1"/>
          </p:nvPr>
        </p:nvSpPr>
        <p:spPr/>
        <p:txBody>
          <a:bodyPr/>
          <a:lstStyle/>
          <a:p>
            <a:r>
              <a:rPr lang="en-US" dirty="0" smtClean="0"/>
              <a:t>The flowchart for smoke detection</a:t>
            </a:r>
          </a:p>
          <a:p>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20" y="1844824"/>
            <a:ext cx="8492201" cy="3888432"/>
          </a:xfrm>
          <a:prstGeom prst="rect">
            <a:avLst/>
          </a:prstGeom>
        </p:spPr>
      </p:pic>
    </p:spTree>
    <p:extLst>
      <p:ext uri="{BB962C8B-B14F-4D97-AF65-F5344CB8AC3E}">
        <p14:creationId xmlns:p14="http://schemas.microsoft.com/office/powerpoint/2010/main" val="4202051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Materials and Methods Used</a:t>
            </a:r>
            <a:endParaRPr lang="en-US" dirty="0"/>
          </a:p>
        </p:txBody>
      </p:sp>
      <p:sp>
        <p:nvSpPr>
          <p:cNvPr id="3" name="Content Placeholder 2"/>
          <p:cNvSpPr>
            <a:spLocks noGrp="1"/>
          </p:cNvSpPr>
          <p:nvPr>
            <p:ph idx="1"/>
          </p:nvPr>
        </p:nvSpPr>
        <p:spPr>
          <a:xfrm>
            <a:off x="6730" y="1124744"/>
            <a:ext cx="8458200" cy="4943475"/>
          </a:xfrm>
        </p:spPr>
        <p:txBody>
          <a:bodyPr/>
          <a:lstStyle/>
          <a:p>
            <a:r>
              <a:rPr lang="en-US" dirty="0" smtClean="0"/>
              <a:t> Conditions for Motion and Smoke Detection</a:t>
            </a:r>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885" t="2743" r="885" b="1249"/>
          <a:stretch/>
        </p:blipFill>
        <p:spPr>
          <a:xfrm>
            <a:off x="107504" y="1556792"/>
            <a:ext cx="7992888" cy="2520280"/>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2135" r="705" b="7258"/>
          <a:stretch/>
        </p:blipFill>
        <p:spPr>
          <a:xfrm>
            <a:off x="107505" y="3717031"/>
            <a:ext cx="7992888" cy="2503465"/>
          </a:xfrm>
          <a:prstGeom prst="rect">
            <a:avLst/>
          </a:prstGeom>
        </p:spPr>
      </p:pic>
    </p:spTree>
    <p:extLst>
      <p:ext uri="{BB962C8B-B14F-4D97-AF65-F5344CB8AC3E}">
        <p14:creationId xmlns:p14="http://schemas.microsoft.com/office/powerpoint/2010/main" val="3645264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Materials and Methods Used</a:t>
            </a:r>
            <a:endParaRPr lang="en-GB" dirty="0"/>
          </a:p>
        </p:txBody>
      </p:sp>
      <p:sp>
        <p:nvSpPr>
          <p:cNvPr id="3" name="Content Placeholder 2"/>
          <p:cNvSpPr>
            <a:spLocks noGrp="1"/>
          </p:cNvSpPr>
          <p:nvPr>
            <p:ph idx="1"/>
          </p:nvPr>
        </p:nvSpPr>
        <p:spPr>
          <a:xfrm>
            <a:off x="74613" y="1125538"/>
            <a:ext cx="8458200" cy="5435600"/>
          </a:xfrm>
        </p:spPr>
        <p:txBody>
          <a:bodyPr/>
          <a:lstStyle/>
          <a:p>
            <a:r>
              <a:rPr lang="en-GB" dirty="0" smtClean="0"/>
              <a:t>The </a:t>
            </a:r>
            <a:r>
              <a:rPr lang="en-GB" dirty="0" err="1" smtClean="0"/>
              <a:t>Pseudocode</a:t>
            </a:r>
            <a:r>
              <a:rPr lang="en-GB" dirty="0" smtClean="0"/>
              <a:t> for the system</a:t>
            </a:r>
            <a:endParaRPr lang="en-GB" dirty="0"/>
          </a:p>
          <a:p>
            <a:endParaRPr lang="en-GB"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pic>
        <p:nvPicPr>
          <p:cNvPr id="5" name="Picture 4"/>
          <p:cNvPicPr>
            <a:picLocks noChangeAspect="1"/>
          </p:cNvPicPr>
          <p:nvPr/>
        </p:nvPicPr>
        <p:blipFill rotWithShape="1">
          <a:blip r:embed="rId2"/>
          <a:srcRect l="5996" t="2046" r="12937" b="6372"/>
          <a:stretch/>
        </p:blipFill>
        <p:spPr>
          <a:xfrm>
            <a:off x="323528" y="1490540"/>
            <a:ext cx="4918786" cy="4824536"/>
          </a:xfrm>
          <a:prstGeom prst="rect">
            <a:avLst/>
          </a:prstGeom>
        </p:spPr>
      </p:pic>
    </p:spTree>
    <p:extLst>
      <p:ext uri="{BB962C8B-B14F-4D97-AF65-F5344CB8AC3E}">
        <p14:creationId xmlns:p14="http://schemas.microsoft.com/office/powerpoint/2010/main" val="1883955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sp>
        <p:nvSpPr>
          <p:cNvPr id="8" name="Content Placeholder 7"/>
          <p:cNvSpPr>
            <a:spLocks noGrp="1"/>
          </p:cNvSpPr>
          <p:nvPr>
            <p:ph idx="1"/>
          </p:nvPr>
        </p:nvSpPr>
        <p:spPr/>
        <p:txBody>
          <a:bodyPr/>
          <a:lstStyle/>
          <a:p>
            <a:r>
              <a:rPr lang="en-US" dirty="0" smtClean="0"/>
              <a:t>The Proposed System</a:t>
            </a:r>
          </a:p>
          <a:p>
            <a:endParaRPr lang="en-US" dirty="0"/>
          </a:p>
        </p:txBody>
      </p:sp>
      <p:pic>
        <p:nvPicPr>
          <p:cNvPr id="9" name="Content Placeholder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8149" y="1628800"/>
            <a:ext cx="8458200" cy="3947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6023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Results and Discussion</a:t>
            </a:r>
            <a:endParaRPr lang="en-GB"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sp>
        <p:nvSpPr>
          <p:cNvPr id="6" name="Content Placeholder 5"/>
          <p:cNvSpPr>
            <a:spLocks noGrp="1"/>
          </p:cNvSpPr>
          <p:nvPr>
            <p:ph idx="1"/>
          </p:nvPr>
        </p:nvSpPr>
        <p:spPr/>
        <p:txBody>
          <a:bodyPr/>
          <a:lstStyle/>
          <a:p>
            <a:r>
              <a:rPr lang="en-US" dirty="0" smtClean="0"/>
              <a:t>The overall Outcome</a:t>
            </a:r>
          </a:p>
          <a:p>
            <a:endParaRPr lang="en-US" dirty="0"/>
          </a:p>
        </p:txBody>
      </p:sp>
      <p:pic>
        <p:nvPicPr>
          <p:cNvPr id="7" name="Content Placeholder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74613" y="1746016"/>
            <a:ext cx="8458200" cy="370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7468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Results and Discussion</a:t>
            </a:r>
            <a:endParaRPr lang="en-GB" dirty="0"/>
          </a:p>
        </p:txBody>
      </p:sp>
      <p:sp>
        <p:nvSpPr>
          <p:cNvPr id="3" name="Content Placeholder 2"/>
          <p:cNvSpPr>
            <a:spLocks noGrp="1"/>
          </p:cNvSpPr>
          <p:nvPr>
            <p:ph idx="1"/>
          </p:nvPr>
        </p:nvSpPr>
        <p:spPr/>
        <p:txBody>
          <a:bodyPr/>
          <a:lstStyle/>
          <a:p>
            <a:endParaRPr lang="en-GB" sz="1500"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spTree>
    <p:extLst>
      <p:ext uri="{BB962C8B-B14F-4D97-AF65-F5344CB8AC3E}">
        <p14:creationId xmlns:p14="http://schemas.microsoft.com/office/powerpoint/2010/main" val="2895916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Conclusion(s)</a:t>
            </a:r>
            <a:endParaRPr lang="en-GB" dirty="0"/>
          </a:p>
        </p:txBody>
      </p:sp>
      <p:sp>
        <p:nvSpPr>
          <p:cNvPr id="3" name="Content Placeholder 2"/>
          <p:cNvSpPr>
            <a:spLocks noGrp="1"/>
          </p:cNvSpPr>
          <p:nvPr>
            <p:ph idx="1"/>
          </p:nvPr>
        </p:nvSpPr>
        <p:spPr/>
        <p:txBody>
          <a:bodyPr/>
          <a:lstStyle/>
          <a:p>
            <a:r>
              <a:rPr lang="en-US" sz="1500" dirty="0"/>
              <a:t>This project successfully integrated IoT-based systems for motion and smoke detection, significantly enhancing security and safety in smart environments. Key components, such as PIR sensors, CCTV cameras, and smoke detectors, were combined with robust communication protocols and cloud storage to create a reliable monitoring system.</a:t>
            </a:r>
          </a:p>
          <a:p>
            <a:r>
              <a:rPr lang="en-US" sz="1500" b="1" dirty="0"/>
              <a:t>Key achievements include:</a:t>
            </a:r>
          </a:p>
          <a:p>
            <a:r>
              <a:rPr lang="en-US" sz="1500" b="1" dirty="0"/>
              <a:t>Accurate Motion Detection: </a:t>
            </a:r>
            <a:r>
              <a:rPr lang="en-US" sz="1500" dirty="0"/>
              <a:t>PIR sensors effectively detected movement with minimal false alerts.</a:t>
            </a:r>
          </a:p>
          <a:p>
            <a:r>
              <a:rPr lang="en-US" sz="1500" b="1" dirty="0"/>
              <a:t>Timely Alerts: </a:t>
            </a:r>
            <a:r>
              <a:rPr lang="en-US" sz="1500" dirty="0"/>
              <a:t>The system provided real-time notifications and activated alarms promptly, with immediate access to CCTV footage.</a:t>
            </a:r>
          </a:p>
          <a:p>
            <a:r>
              <a:rPr lang="en-US" sz="1500" b="1" dirty="0"/>
              <a:t>Efficient Surveillance: </a:t>
            </a:r>
            <a:r>
              <a:rPr lang="en-US" sz="1500" dirty="0"/>
              <a:t>High-quality CCTV video allowed for accurate identification of intruders, supported by remote access.</a:t>
            </a:r>
          </a:p>
          <a:p>
            <a:r>
              <a:rPr lang="en-US" sz="1500" b="1" dirty="0"/>
              <a:t>Seamless Integration: </a:t>
            </a:r>
            <a:r>
              <a:rPr lang="en-US" sz="1500" dirty="0"/>
              <a:t>Motion and smoke detection systems were integrated for comprehensive monitoring.</a:t>
            </a:r>
          </a:p>
          <a:p>
            <a:r>
              <a:rPr lang="en-US" sz="1500" b="1" dirty="0"/>
              <a:t>Reliable Communication: </a:t>
            </a:r>
            <a:r>
              <a:rPr lang="en-US" sz="1500" dirty="0"/>
              <a:t>Consistent communication between IoT devices ensured stable operation and minimized data loss.</a:t>
            </a:r>
          </a:p>
          <a:p>
            <a:r>
              <a:rPr lang="en-US" sz="1500" b="1" dirty="0"/>
              <a:t>Secure Data Management: </a:t>
            </a:r>
            <a:r>
              <a:rPr lang="en-US" sz="1500" dirty="0"/>
              <a:t>Data was securely stored and processed, with protections against unauthorized access.</a:t>
            </a:r>
          </a:p>
          <a:p>
            <a:r>
              <a:rPr lang="en-US" sz="1500" b="1" dirty="0"/>
              <a:t>Efficient Network Operation: </a:t>
            </a:r>
            <a:r>
              <a:rPr lang="en-US" sz="1500" dirty="0"/>
              <a:t>The DNS server enabled smooth communication, essential for system performance.</a:t>
            </a:r>
            <a:endParaRPr lang="en-GB" sz="1500"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spTree>
    <p:extLst>
      <p:ext uri="{BB962C8B-B14F-4D97-AF65-F5344CB8AC3E}">
        <p14:creationId xmlns:p14="http://schemas.microsoft.com/office/powerpoint/2010/main" val="3966832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Recommendation(s)</a:t>
            </a:r>
            <a:endParaRPr lang="en-GB" dirty="0"/>
          </a:p>
        </p:txBody>
      </p:sp>
      <p:sp>
        <p:nvSpPr>
          <p:cNvPr id="3" name="Content Placeholder 2"/>
          <p:cNvSpPr>
            <a:spLocks noGrp="1"/>
          </p:cNvSpPr>
          <p:nvPr>
            <p:ph idx="1"/>
          </p:nvPr>
        </p:nvSpPr>
        <p:spPr/>
        <p:txBody>
          <a:bodyPr/>
          <a:lstStyle/>
          <a:p>
            <a:pPr lvl="0"/>
            <a:r>
              <a:rPr lang="en-US" b="1" dirty="0"/>
              <a:t>Expansion to More </a:t>
            </a:r>
            <a:r>
              <a:rPr lang="en-US" b="1" dirty="0" smtClean="0"/>
              <a:t>Sensors</a:t>
            </a:r>
            <a:endParaRPr lang="en-US" dirty="0" smtClean="0"/>
          </a:p>
          <a:p>
            <a:pPr lvl="0"/>
            <a:r>
              <a:rPr lang="en-US" b="1" dirty="0" smtClean="0"/>
              <a:t>AI Integration</a:t>
            </a:r>
            <a:endParaRPr lang="en-US" dirty="0" smtClean="0"/>
          </a:p>
          <a:p>
            <a:pPr lvl="0"/>
            <a:r>
              <a:rPr lang="en-US" b="1" dirty="0" smtClean="0"/>
              <a:t>User </a:t>
            </a:r>
            <a:r>
              <a:rPr lang="en-US" b="1" dirty="0"/>
              <a:t>Interface </a:t>
            </a:r>
            <a:r>
              <a:rPr lang="en-US" b="1" dirty="0" smtClean="0"/>
              <a:t>Enhancement</a:t>
            </a:r>
            <a:endParaRPr lang="en-US" dirty="0" smtClean="0"/>
          </a:p>
          <a:p>
            <a:pPr lvl="0"/>
            <a:r>
              <a:rPr lang="en-US" b="1" dirty="0" smtClean="0"/>
              <a:t>Mobile </a:t>
            </a:r>
            <a:r>
              <a:rPr lang="en-US" b="1" dirty="0"/>
              <a:t>Application </a:t>
            </a:r>
            <a:r>
              <a:rPr lang="en-US" b="1" dirty="0" smtClean="0"/>
              <a:t>Development</a:t>
            </a:r>
            <a:endParaRPr lang="en-US" dirty="0" smtClean="0"/>
          </a:p>
          <a:p>
            <a:pPr lvl="0"/>
            <a:r>
              <a:rPr lang="en-US" b="1" dirty="0" smtClean="0"/>
              <a:t>Scalability </a:t>
            </a:r>
            <a:r>
              <a:rPr lang="en-US" b="1" dirty="0"/>
              <a:t>for Larger </a:t>
            </a:r>
            <a:r>
              <a:rPr lang="en-US" b="1" dirty="0" smtClean="0"/>
              <a:t>Deployments</a:t>
            </a:r>
            <a:endParaRPr lang="en-US" dirty="0"/>
          </a:p>
          <a:p>
            <a:pPr lvl="0"/>
            <a:r>
              <a:rPr lang="en-US" b="1" dirty="0" smtClean="0"/>
              <a:t>Energy Efficiency</a:t>
            </a:r>
            <a:endParaRPr lang="en-US" dirty="0" smtClean="0"/>
          </a:p>
          <a:p>
            <a:pPr lvl="0"/>
            <a:r>
              <a:rPr lang="en-US" b="1" dirty="0" smtClean="0"/>
              <a:t>Security Enhancements</a:t>
            </a:r>
            <a:endParaRPr lang="en-US" dirty="0"/>
          </a:p>
          <a:p>
            <a:pPr lvl="0"/>
            <a:r>
              <a:rPr lang="en-US" b="1" dirty="0" smtClean="0"/>
              <a:t>Periodic </a:t>
            </a:r>
            <a:r>
              <a:rPr lang="en-US" b="1" dirty="0"/>
              <a:t>System </a:t>
            </a:r>
            <a:r>
              <a:rPr lang="en-US" b="1" dirty="0" smtClean="0"/>
              <a:t>Updates</a:t>
            </a:r>
            <a:endParaRPr lang="en-US" dirty="0"/>
          </a:p>
        </p:txBody>
      </p:sp>
      <p:sp>
        <p:nvSpPr>
          <p:cNvPr id="4" name="Footer Placeholder 3"/>
          <p:cNvSpPr>
            <a:spLocks noGrp="1"/>
          </p:cNvSpPr>
          <p:nvPr>
            <p:ph type="ftr" sz="quarter" idx="10"/>
          </p:nvPr>
        </p:nvSpPr>
        <p:spPr/>
        <p:txBody>
          <a:bodyPr/>
          <a:lstStyle/>
          <a:p>
            <a:pPr>
              <a:defRPr/>
            </a:pPr>
            <a:r>
              <a:rPr lang="en-GB" smtClean="0"/>
              <a:t>UNIVERSITY OF MINES AND TECHNOLOGY, TARKWA			          UMaT</a:t>
            </a:r>
            <a:endParaRPr lang="en-GB"/>
          </a:p>
        </p:txBody>
      </p:sp>
    </p:spTree>
    <p:extLst>
      <p:ext uri="{BB962C8B-B14F-4D97-AF65-F5344CB8AC3E}">
        <p14:creationId xmlns:p14="http://schemas.microsoft.com/office/powerpoint/2010/main" val="1514795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a:latin typeface="Arial" panose="020B0604020202020204" pitchFamily="34" charset="0"/>
              </a:rPr>
              <a:t>UNIVERSITY OF MINES AND TECHNOLOGY, TARKWA			          UMaT</a:t>
            </a:r>
          </a:p>
        </p:txBody>
      </p:sp>
      <p:sp>
        <p:nvSpPr>
          <p:cNvPr id="196610" name="Rectangle 2"/>
          <p:cNvSpPr>
            <a:spLocks noGrp="1" noChangeArrowheads="1"/>
          </p:cNvSpPr>
          <p:nvPr>
            <p:ph type="title"/>
          </p:nvPr>
        </p:nvSpPr>
        <p:spPr/>
        <p:txBody>
          <a:bodyPr/>
          <a:lstStyle/>
          <a:p>
            <a:pPr>
              <a:defRPr/>
            </a:pPr>
            <a:endParaRPr lang="en-US" smtClean="0"/>
          </a:p>
        </p:txBody>
      </p:sp>
      <p:sp>
        <p:nvSpPr>
          <p:cNvPr id="6148" name="Rectangle 3" descr="Newsprint"/>
          <p:cNvSpPr>
            <a:spLocks noGrp="1" noChangeArrowheads="1"/>
          </p:cNvSpPr>
          <p:nvPr>
            <p:ph type="body" idx="1"/>
          </p:nvPr>
        </p:nvSpPr>
        <p:spPr>
          <a:xfrm>
            <a:off x="381000" y="2133600"/>
            <a:ext cx="7989888" cy="2133600"/>
          </a:xfrm>
        </p:spPr>
        <p:txBody>
          <a:bodyPr/>
          <a:lstStyle/>
          <a:p>
            <a:pPr algn="ctr">
              <a:buFont typeface="Wingdings" panose="05000000000000000000" pitchFamily="2" charset="2"/>
              <a:buNone/>
            </a:pPr>
            <a:r>
              <a:rPr lang="en-GB" altLang="en-US" sz="11500" dirty="0" smtClean="0">
                <a:solidFill>
                  <a:srgbClr val="FF0000"/>
                </a:solidFill>
              </a:rPr>
              <a:t>THANK YOU </a:t>
            </a:r>
          </a:p>
          <a:p>
            <a:pPr>
              <a:buFont typeface="Wingdings" panose="05000000000000000000" pitchFamily="2" charset="2"/>
              <a:buNone/>
            </a:pPr>
            <a:endParaRPr lang="en-GB" altLang="en-US" dirty="0" smtClean="0">
              <a:solidFill>
                <a:srgbClr val="FF0000"/>
              </a:solidFill>
            </a:endParaRPr>
          </a:p>
          <a:p>
            <a:pPr>
              <a:buFont typeface="Wingdings" panose="05000000000000000000" pitchFamily="2" charset="2"/>
              <a:buNone/>
            </a:pPr>
            <a:endParaRPr lang="en-GB" altLang="en-US" dirty="0" smtClean="0">
              <a:solidFill>
                <a:srgbClr val="FF0000"/>
              </a:solidFill>
            </a:endParaRPr>
          </a:p>
        </p:txBody>
      </p:sp>
      <p:sp>
        <p:nvSpPr>
          <p:cNvPr id="5" name="Rectangle 2"/>
          <p:cNvSpPr txBox="1">
            <a:spLocks noChangeArrowheads="1"/>
          </p:cNvSpPr>
          <p:nvPr/>
        </p:nvSpPr>
        <p:spPr bwMode="auto">
          <a:xfrm>
            <a:off x="107504" y="4725144"/>
            <a:ext cx="8002588" cy="868363"/>
          </a:xfrm>
          <a:prstGeom prst="rect">
            <a:avLst/>
          </a:prstGeom>
          <a:noFill/>
          <a:ln w="9525">
            <a:noFill/>
            <a:miter lim="800000"/>
            <a:headEnd/>
            <a:tailEnd/>
          </a:ln>
          <a:effectLst/>
        </p:spPr>
        <p:txBody>
          <a:bodyPr anchor="ctr"/>
          <a:lstStyle/>
          <a:p>
            <a:pPr algn="ctr">
              <a:defRPr/>
            </a:pPr>
            <a:r>
              <a:rPr lang="en-US" sz="4000" b="1" kern="0" dirty="0" smtClean="0">
                <a:solidFill>
                  <a:schemeClr val="tx2"/>
                </a:solidFill>
                <a:effectLst>
                  <a:outerShdw blurRad="38100" dist="38100" dir="2700000" algn="tl">
                    <a:srgbClr val="C0C0C0"/>
                  </a:outerShdw>
                </a:effectLst>
                <a:latin typeface="+mj-lt"/>
                <a:ea typeface="+mj-ea"/>
                <a:cs typeface="+mj-cs"/>
              </a:rPr>
              <a:t>SUPERVISOR: </a:t>
            </a:r>
            <a:r>
              <a:rPr lang="en-GH" sz="4000" b="1" dirty="0"/>
              <a:t>DR. ALBERT KWANTWI</a:t>
            </a:r>
            <a:endParaRPr lang="en-US" sz="4000" b="1" dirty="0"/>
          </a:p>
          <a:p>
            <a:pPr algn="ctr">
              <a:defRPr/>
            </a:pPr>
            <a:endParaRPr lang="en-US" sz="4000" b="1" kern="0" dirty="0">
              <a:solidFill>
                <a:schemeClr val="tx2"/>
              </a:solidFill>
              <a:effectLst>
                <a:outerShdw blurRad="38100" dist="38100" dir="2700000" algn="tl">
                  <a:srgbClr val="C0C0C0"/>
                </a:outerShdw>
              </a:effectLst>
              <a:latin typeface="+mj-lt"/>
              <a:ea typeface="+mj-ea"/>
              <a:cs typeface="+mj-cs"/>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aching_Slide">
  <a:themeElements>
    <a:clrScheme name="ITC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ITC">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ITC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TC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TC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TC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T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T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T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Teaching_Slide</Template>
  <TotalTime>772</TotalTime>
  <Words>779</Words>
  <Application>Microsoft Office PowerPoint</Application>
  <PresentationFormat>On-screen Show (4:3)</PresentationFormat>
  <Paragraphs>103</Paragraphs>
  <Slides>18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Times New Roman</vt:lpstr>
      <vt:lpstr>Trebuchet MS</vt:lpstr>
      <vt:lpstr>Wingdings</vt:lpstr>
      <vt:lpstr>Teaching_Slide</vt:lpstr>
      <vt:lpstr>SAFEZONE: NETWORKED SECURITY AND SAFETY SYSTEM WITH MOTION , SMOKE AND FIRE DETECTION</vt:lpstr>
      <vt:lpstr>Presentation Outline</vt:lpstr>
      <vt:lpstr>Statement of Problem</vt:lpstr>
      <vt:lpstr>Statement of Problem</vt:lpstr>
      <vt:lpstr>Objective(s) of Project</vt:lpstr>
      <vt:lpstr>The Study Area</vt:lpstr>
      <vt:lpstr>Materials and Methods Used</vt:lpstr>
      <vt:lpstr>Materials and Methods Used</vt:lpstr>
      <vt:lpstr>Materials and Methods Used</vt:lpstr>
      <vt:lpstr>Materials and Methods Used</vt:lpstr>
      <vt:lpstr>Materials and Methods Used</vt:lpstr>
      <vt:lpstr>Materials and Methods Used</vt:lpstr>
      <vt:lpstr>Proposed System</vt:lpstr>
      <vt:lpstr>Results and Discussion</vt:lpstr>
      <vt:lpstr>Results and Discussion</vt:lpstr>
      <vt:lpstr>Conclusion(s)</vt:lpstr>
      <vt:lpstr>Recommendation(s)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PROJECT</dc:title>
  <dc:creator>Prof B Kumi-Boateng</dc:creator>
  <cp:lastModifiedBy>Microsoft account</cp:lastModifiedBy>
  <cp:revision>16</cp:revision>
  <dcterms:created xsi:type="dcterms:W3CDTF">2020-04-24T15:04:58Z</dcterms:created>
  <dcterms:modified xsi:type="dcterms:W3CDTF">2024-08-11T21:24:17Z</dcterms:modified>
</cp:coreProperties>
</file>